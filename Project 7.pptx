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90" r:id="rId4"/>
    <p:sldId id="259" r:id="rId5"/>
    <p:sldId id="263" r:id="rId6"/>
    <p:sldId id="264" r:id="rId7"/>
    <p:sldId id="265" r:id="rId8"/>
    <p:sldId id="266" r:id="rId9"/>
    <p:sldId id="268" r:id="rId10"/>
    <p:sldId id="286" r:id="rId11"/>
    <p:sldId id="291" r:id="rId12"/>
    <p:sldId id="288" r:id="rId13"/>
    <p:sldId id="292" r:id="rId14"/>
    <p:sldId id="270" r:id="rId15"/>
    <p:sldId id="289" r:id="rId16"/>
    <p:sldId id="293" r:id="rId17"/>
    <p:sldId id="295" r:id="rId18"/>
    <p:sldId id="272" r:id="rId19"/>
    <p:sldId id="274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4A56CB-4F22-4C3D-ADF6-CBB3E3E3B45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B87725B-5DB0-495F-B62E-1995B0A87D89}" type="pres">
      <dgm:prSet presAssocID="{524A56CB-4F22-4C3D-ADF6-CBB3E3E3B454}" presName="Name0" presStyleCnt="0">
        <dgm:presLayoutVars>
          <dgm:dir/>
          <dgm:resizeHandles val="exact"/>
        </dgm:presLayoutVars>
      </dgm:prSet>
      <dgm:spPr/>
    </dgm:pt>
  </dgm:ptLst>
  <dgm:cxnLst>
    <dgm:cxn modelId="{FB9E9C2B-D9A7-43CF-8302-41C1F16CE0BD}" type="presOf" srcId="{524A56CB-4F22-4C3D-ADF6-CBB3E3E3B454}" destId="{7B87725B-5DB0-495F-B62E-1995B0A87D89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4A56CB-4F22-4C3D-ADF6-CBB3E3E3B45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B87725B-5DB0-495F-B62E-1995B0A87D89}" type="pres">
      <dgm:prSet presAssocID="{524A56CB-4F22-4C3D-ADF6-CBB3E3E3B454}" presName="Name0" presStyleCnt="0">
        <dgm:presLayoutVars>
          <dgm:dir/>
          <dgm:resizeHandles val="exact"/>
        </dgm:presLayoutVars>
      </dgm:prSet>
      <dgm:spPr/>
    </dgm:pt>
  </dgm:ptLst>
  <dgm:cxnLst>
    <dgm:cxn modelId="{FB9E9C2B-D9A7-43CF-8302-41C1F16CE0BD}" type="presOf" srcId="{524A56CB-4F22-4C3D-ADF6-CBB3E3E3B454}" destId="{7B87725B-5DB0-495F-B62E-1995B0A87D89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35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436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5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25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4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18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24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54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088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4292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064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532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282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91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5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F362F64-B922-4B13-9721-EA4E666902C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776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render.com/docs/deploy-flask" TargetMode="External"/><Relationship Id="rId3" Type="http://schemas.openxmlformats.org/officeDocument/2006/relationships/hyperlink" Target="https://www.geeksforgeeks.org/nlp/text-preprocessing-for-nlp-tasks/" TargetMode="External"/><Relationship Id="rId7" Type="http://schemas.openxmlformats.org/officeDocument/2006/relationships/hyperlink" Target="https://flask.palletsprojects.com/en/stable/quickstart/" TargetMode="External"/><Relationship Id="rId2" Type="http://schemas.openxmlformats.org/officeDocument/2006/relationships/hyperlink" Target="https://www.goskills.com/Excel/Resources/Pivot-table-tutoria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machine-learning/classification-of-text-documents-using-the-approach-of-naive-bayes/" TargetMode="External"/><Relationship Id="rId5" Type="http://schemas.openxmlformats.org/officeDocument/2006/relationships/hyperlink" Target="https://www.geeksforgeeks.org/machine-learning/multinomial-naive-bayes/" TargetMode="External"/><Relationship Id="rId4" Type="http://schemas.openxmlformats.org/officeDocument/2006/relationships/hyperlink" Target="https://www.geeksforgeeks.org/machine-learning/text-classification-using-logistic-regression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5DCBF3-5FCA-FE32-6767-8463730CB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576" y="306557"/>
            <a:ext cx="10804848" cy="5746102"/>
          </a:xfrm>
        </p:spPr>
        <p:txBody>
          <a:bodyPr anchor="t"/>
          <a:lstStyle/>
          <a:p>
            <a:pPr algn="ctr"/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Project-7</a:t>
            </a: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Project for Disaster Tweet Classification</a:t>
            </a: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NextHikes</a:t>
            </a: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  <a:b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- Rakshit A Solanki</a:t>
            </a:r>
          </a:p>
        </p:txBody>
      </p:sp>
    </p:spTree>
    <p:extLst>
      <p:ext uri="{BB962C8B-B14F-4D97-AF65-F5344CB8AC3E}">
        <p14:creationId xmlns:p14="http://schemas.microsoft.com/office/powerpoint/2010/main" val="2281180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881591-D4D1-9561-758C-7F3310262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A3FDEA-0B7B-6A9A-3A33-39A188C5C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22560"/>
            <a:ext cx="11100619" cy="5864936"/>
          </a:xfrm>
        </p:spPr>
        <p:txBody>
          <a:bodyPr>
            <a:normAutofit/>
          </a:bodyPr>
          <a:lstStyle/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 like Twitter play an important role in sharing real time information during emergencies and disasters.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whether a tweet describes a real Disaster or uses Disaster related words in Non-Disaster context can be challenging.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relief agencies and news organizations can benefit form an automated system that identifies genuine Disaster related tweets quickly.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Natural Language Processing (NLP) and Machine Learning to classify tweets into Disaster &amp; Non-Disaster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classification system can support faster monitoring of emergency related information available on social media.</a:t>
            </a:r>
          </a:p>
          <a:p>
            <a:pPr algn="just"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4A66-CC6F-5CC7-964A-33A83B13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483C56-BE57-E58C-132D-BB2C9B35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F73F648-3E26-CFFC-7FE1-670BC198B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22560"/>
            <a:ext cx="11100619" cy="5864936"/>
          </a:xfrm>
        </p:spPr>
        <p:txBody>
          <a:bodyPr>
            <a:normAutofit/>
          </a:bodyPr>
          <a:lstStyle/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Tweets often contain words such as </a:t>
            </a:r>
            <a:r>
              <a:rPr lang="en-US" sz="27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“fire”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“flood”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7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“crash”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these words do not always represent an actual disaster.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disaster related terms may be used metaphorically, casually or in a completely different context making automatic classification difficult.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challenge is to correctly understand the context and intent of tweet text and distinguish genuine disaster information from non-disaster content.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develop a binary text classification model that predicts whether a given tweet is real disaster </a:t>
            </a:r>
            <a:r>
              <a:rPr lang="en-US" sz="27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non-disaster </a:t>
            </a:r>
            <a:r>
              <a:rPr lang="en-US" sz="27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18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5FC3-C489-9A02-4B20-ADA4CB60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4EDF37-0925-F2E2-9890-37326C8A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801C37-6857-9CF7-C8C3-A24AF20BE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12728"/>
            <a:ext cx="11080955" cy="5771527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contains 7613 tweets with 5 columns.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one tweet along with its related information.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text column is text</a:t>
            </a:r>
            <a:r>
              <a:rPr lang="en-US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target is used for classification.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variables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: Unique id for each tweet.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: Important keyword related to the tweet.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: Final Class 0 for Non-Disaster &amp; 1 for Disaster.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Distribution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Non-Disaster Tweets : 4342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Tweets : 3271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16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0391" y="3778086"/>
            <a:ext cx="11011506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variable contains two classes Disaster &amp; Non-Disaster.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4342 tweets are classified as Non-Disaster.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3271 tweets are classified as Disaster.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Non-Disaster tweets are slightly higher than Disaster tweets.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31BD2B-D47D-5045-7BF9-B3A76B2C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29CD3B-DDDD-284E-4AB1-4FCACBD00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77" y="1133922"/>
            <a:ext cx="10733310" cy="244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0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2193-9597-0FBE-4E1A-B98B32D7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94458B6-09C2-03CB-3AAB-7F5F3312893C}"/>
              </a:ext>
            </a:extLst>
          </p:cNvPr>
          <p:cNvSpPr/>
          <p:nvPr/>
        </p:nvSpPr>
        <p:spPr>
          <a:xfrm>
            <a:off x="600391" y="3778086"/>
            <a:ext cx="11011506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 length was analyzed to understand the size &amp; variation of individual tweets.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tweets are concentrated around 80-140 characters.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short and very long tweets are comparatively less common.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shows that users generally provide a moderate amount of text while posting tweets.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9AB155F-C6BA-006D-FDE3-FE5BC041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AE3EE8-5A40-FDE7-429A-6D3DEC941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2" y="1057680"/>
            <a:ext cx="10733313" cy="25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73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9EF7B-6E37-A4FB-214E-A7B4DACC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16D979-48E5-3881-514F-6599F2DB7956}"/>
              </a:ext>
            </a:extLst>
          </p:cNvPr>
          <p:cNvSpPr/>
          <p:nvPr/>
        </p:nvSpPr>
        <p:spPr>
          <a:xfrm>
            <a:off x="570271" y="3778086"/>
            <a:ext cx="11031794" cy="2426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tweets generally have a higher median tweet length than Non-Disaster tweets.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Non-Disaster tweets show a wider spread especially toward shorter tweet lengths.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categories contain tweets with a wide range of character lengths.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F3617B1-F035-59C4-6709-7AE28F9F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B921E-5B7F-039B-47C6-8A2B445E6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89" y="988858"/>
            <a:ext cx="10750669" cy="252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30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5559-3054-0868-490B-51B679600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AFBF22-0323-A957-3987-0EA5BA18F1F4}"/>
              </a:ext>
            </a:extLst>
          </p:cNvPr>
          <p:cNvSpPr/>
          <p:nvPr/>
        </p:nvSpPr>
        <p:spPr>
          <a:xfrm>
            <a:off x="600390" y="3768254"/>
            <a:ext cx="10982009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 length &amp; word count show a strong positive relationship.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 containing more words generally have a higher character length.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&amp; Non-Disaster tweets show considerable overlap across this relationship.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tweet length and word count alone cannot clearly separate the two classes.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5DFB55-49B8-BC22-893F-6FE7B3CB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2A76F6-CF16-F863-515A-24BC7851A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94" y="988858"/>
            <a:ext cx="10733314" cy="258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2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61D1-CC34-F668-0C97-94FFAAAB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1DCA7-74EB-984A-658D-9FF0EA793A1C}"/>
              </a:ext>
            </a:extLst>
          </p:cNvPr>
          <p:cNvSpPr/>
          <p:nvPr/>
        </p:nvSpPr>
        <p:spPr>
          <a:xfrm>
            <a:off x="5576023" y="988581"/>
            <a:ext cx="5969866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 length &amp; word count show a strong positive correlation.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such as hashtags, mentions &amp; URLs show a different levels of relationship with other tweet characteristics.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variable does not show a very strong linear relationship with any single numerical feature.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text-based NLP features are important for accurately classifying Disaster &amp; Non-Disaster tweets.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A440BED-9374-1DDE-38F0-D9C6C4479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C05476-71AC-6224-0D50-5BE3AEE26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96" y="1443530"/>
            <a:ext cx="5010444" cy="421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18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B183C-2A41-D680-F0E1-3757C933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912FB4-7C16-5F50-E103-9E6559AD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2AD24CA-9479-C521-57B7-477B799E4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71720"/>
            <a:ext cx="11080955" cy="6066496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text was converted to lowercase for consistency.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URLs, user mentions, punctuation &amp; special character were removed.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text was tokenized into individual words.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English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removed to keep meaningful words.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hashtag (#) was removed while keeping the useful hashtag text.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spaces and unnecessary text patterns were removed to create clean text.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tokens were joined back into cleaned text for further NLP analysis.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831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A84F7-14FB-7608-349B-C3E8DB5F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42FD15-3534-DF10-1040-AEB04C50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8313F5-C132-7D2B-4BB6-380863C9B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71720"/>
            <a:ext cx="11080955" cy="6066496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 of Words (BOW) was first used to represent words based on their occurrence in tweets.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 IDF vectorization was applied to give higher importance to more informative words.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TF IDF representation was limited to 5000 text features for efficient model training.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Sentiment analysis was also performed to generate Positive, Negative, Neutral &amp; Compound sentiment scores.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 IDF was used as the main text representation for training the final Machine Learning models.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431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E737E-C4DB-1653-B7E5-2B9F8273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EA4107-5BE9-3396-A609-ADE5ECED477B}"/>
              </a:ext>
            </a:extLst>
          </p:cNvPr>
          <p:cNvSpPr/>
          <p:nvPr/>
        </p:nvSpPr>
        <p:spPr>
          <a:xfrm>
            <a:off x="600390" y="3768254"/>
            <a:ext cx="10982009" cy="2841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Sentiment Analysis was applied to understand the emotional tone of tweets.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tweet received Positive, Negative, Neutral &amp; Compound sentiment scores.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compound score was used to classify tweets into Positive, Negative or Neutral sentiment.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27160DD-4ABF-18CA-34DB-A055FA22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3FF88B-6ECE-F88A-AC26-43D8A977C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77" y="988858"/>
            <a:ext cx="10708991" cy="258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8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A90C-01DB-ECBE-D408-99204B04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6BC54D-7FB4-A6F7-DE4C-98BC71F9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08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Train-Test-Split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60DF9D-8C6D-4A31-CDD0-30D3BFC6A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42224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stratified Train-Test-Split was used to maintain a similar Disaster &amp; Non-Disaster class Distribution.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was used to learn the classification patterns while testing data was kept separate for final evaluation.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 IDF features were prepared for the training and testing text before model building.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Dataset : 7613 Tweets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: 6088 Tweets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Testing : 1523 Tweets 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721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2857-B347-7375-E808-6649597D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73CF32-C6F5-EE1B-66BF-50391FBBF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08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448084-8DBC-0395-0555-A47CDE69D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42224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a strong baseline model for text classification.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efficiently with high dimensional TF IDF features.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the best initial overall performance among the tested models.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ensemble model based on multiple decision trees.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compare a tree-based approach with other classifiers.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more complex patterns in the feature space.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Multinomial Naive Bayes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for NLP and text classification tasks.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effectively with word frequency and TF IDF based features.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3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0C80D-0674-E629-B817-A4A1BF72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4625C4-B3FA-5A24-B2E6-3F73E3AFDBA7}"/>
              </a:ext>
            </a:extLst>
          </p:cNvPr>
          <p:cNvSpPr/>
          <p:nvPr/>
        </p:nvSpPr>
        <p:spPr>
          <a:xfrm>
            <a:off x="600390" y="3905900"/>
            <a:ext cx="10982009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achieved the highest initial accuracy of 82.73%.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achieved the highest initial F1 score of 78.35%.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Naive Bayes showed competitive performance with 81.22% accuracy.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showed comparatively lower performance across the evaluation metrics.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089EED4-2DEF-DE0A-7D86-01A32B14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4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E7A673-D97F-48A4-F3A6-F64A2A9F1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41" y="892281"/>
            <a:ext cx="10743126" cy="291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55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9FC4-34D0-9314-90ED-3454C97B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9C0276-1D22-6028-98AA-984C45FD7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08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&amp; Cloud Deployment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BC79B6-DB48-08BA-452D-4FCC449F9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4001742"/>
            <a:ext cx="10862266" cy="5742033"/>
          </a:xfrm>
        </p:spPr>
        <p:txBody>
          <a:bodyPr>
            <a:norm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Logistic Regression model and TF IDF vectorizer were saved for deployment.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Flask web application was developed to accept tweet text from users.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processes the tweet and predicts Disaster or Non-Disaster.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 result is displayed along with a confidence score.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uploaded to GitHub &amp; deployed on Render Cloud.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2877717-CB1B-3410-08C4-0EC766EC5D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9241382"/>
              </p:ext>
            </p:extLst>
          </p:nvPr>
        </p:nvGraphicFramePr>
        <p:xfrm>
          <a:off x="763638" y="4970201"/>
          <a:ext cx="7229987" cy="594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C030492-991E-D23D-A01E-22BFF1A610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211641"/>
              </p:ext>
            </p:extLst>
          </p:nvPr>
        </p:nvGraphicFramePr>
        <p:xfrm>
          <a:off x="8303969" y="5818230"/>
          <a:ext cx="2830322" cy="594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5E403F7C-CC1F-2639-BA0B-24AA45BD7A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22" y="869018"/>
            <a:ext cx="10519951" cy="298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29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734AD-B490-4026-4AEE-5A0748C5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8C945D-8B3C-FB24-8FE6-AFF9FD797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08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88B7EA-4EFD-C8A5-26CA-C0339BCEF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42224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 identification of Disaster related tweets from large volumes of social media data.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manual effort required to review and filter tweets.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prioritize potentially important emergency related information for further review.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classification of new tweets through the deployed web application.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assist news organizations and Disaster response teams in monitoring emergency related social media information.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scalable approach for automated social media monitoring.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170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D962-6015-78AE-2929-1E741B67E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0955F1-8C0A-1B90-A069-976C25BE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288991-242D-8F1D-BE6C-25B23777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22560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&amp; Machine Learning were successfully used to classify tweets into Disaster &amp; Non-Disaster categories.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 IDF provided an effective numerical representation of the cleaned tweet text.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showed strong overall performance while the tuned model improved Disaster Recall.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model was successfully integrated into a Flask web application and deployed on Render.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 practical approach for automated Disaster related social media monitoring.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257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147915"/>
            <a:ext cx="10888392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Links Used For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9" y="1057245"/>
            <a:ext cx="10985450" cy="419548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https://www.geeksforgeeks.org/data-analysis/exploratory-data-analysis-in-python/</a:t>
            </a: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https://www.geeksforgeeks.org/nlp/text-preprocessing-for-nlp-tasks/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https://www.geeksforgeeks.org/machine-learning/text-classification-using-logistic-regression/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https://www.geeksforgeeks.org/machine-learning/multinomial-naive-bayes/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https://www.geeksforgeeks.org/machine-learning/classification-of-text-documents-using-the-approach-of-naive-bayes/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https://flask.palletsprojects.com/en/stable/quickstart/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https://render.com/docs/deploy-flask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320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640080"/>
            <a:ext cx="10823078" cy="56083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5335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2525</TotalTime>
  <Words>1255</Words>
  <Application>Microsoft Office PowerPoint</Application>
  <PresentationFormat>Widescreen</PresentationFormat>
  <Paragraphs>158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Century Gothic</vt:lpstr>
      <vt:lpstr>Times New Roman</vt:lpstr>
      <vt:lpstr>Wingdings</vt:lpstr>
      <vt:lpstr>Wingdings 3</vt:lpstr>
      <vt:lpstr>Ion</vt:lpstr>
      <vt:lpstr>Project-7  NLP Project for Disaster Tweet Classification  NextHikes Solutions By - Rakshit A Solanki</vt:lpstr>
      <vt:lpstr>Project Overview</vt:lpstr>
      <vt:lpstr>Problem Statement</vt:lpstr>
      <vt:lpstr>Dataset Information</vt:lpstr>
      <vt:lpstr>Univariate Analysis</vt:lpstr>
      <vt:lpstr>Univariate Analysis</vt:lpstr>
      <vt:lpstr>Bivariate Analysis</vt:lpstr>
      <vt:lpstr>Multivariate Analysis</vt:lpstr>
      <vt:lpstr>Correlation Heatmap</vt:lpstr>
      <vt:lpstr>Text Preprocessing</vt:lpstr>
      <vt:lpstr>Feature Engineering</vt:lpstr>
      <vt:lpstr>Sentiment Analysis</vt:lpstr>
      <vt:lpstr>Train-Test-Split</vt:lpstr>
      <vt:lpstr>Machine Learning Models</vt:lpstr>
      <vt:lpstr>Model Performance Comparison</vt:lpstr>
      <vt:lpstr>Web Application &amp; Cloud Deployment</vt:lpstr>
      <vt:lpstr>Business Insights</vt:lpstr>
      <vt:lpstr>Conclusion</vt:lpstr>
      <vt:lpstr>Reference Links Used For Learn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Chandni Solanki</dc:creator>
  <cp:lastModifiedBy>Chandni Solanki</cp:lastModifiedBy>
  <cp:revision>60</cp:revision>
  <dcterms:created xsi:type="dcterms:W3CDTF">2026-04-24T15:01:37Z</dcterms:created>
  <dcterms:modified xsi:type="dcterms:W3CDTF">2026-09-15T22:01:54Z</dcterms:modified>
</cp:coreProperties>
</file>